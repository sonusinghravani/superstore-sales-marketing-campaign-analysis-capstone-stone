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F4C430"/>
    <a:srgbClr val="243B6E"/>
    <a:srgbClr val="FFFFFF"/>
    <a:srgbClr val="F39C12"/>
    <a:srgbClr val="27AE60"/>
    <a:srgbClr val="C0392B"/>
    <a:srgbClr val="1B2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E046-CC8A-AE3E-493B-D39D63FF9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F5ECB-61D0-56A3-59ED-788334808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C758-02CD-CD4B-238C-839BC49F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059B1-ACAC-1A6B-3045-5E3FD97FE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E15D4-6B6C-A605-7E1E-40DF014F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8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1142-FCCB-6161-ED58-9E305AA2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13A0-7736-BD7C-3F28-B4CB8BCF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8E215-8A18-35A2-520B-B87C39EC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1095A-0DE5-DC79-4AA4-E2BB13A2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F3FB7-4E69-6D34-9113-0C083396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1A41-FC5D-170B-1A37-80E53578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BDA73-81F9-4105-3BE9-5958EC1E9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BDE83-CD44-232E-D270-36F78F5D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247A1-F20D-9D46-92C5-6C510386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88324-D194-793D-9C03-87EFD8BB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1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29C5-1154-F7DA-271F-1F83518A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1E3A-48A8-C655-6672-75583C61D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879CF-DD6A-20B5-7B40-0EDA405F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DD56B-BAAD-076C-5EDB-46E0F865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F8BDD-A7DA-BBDB-C62F-84A07F95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0FF98-AEE3-8D0C-4B22-FE4781B9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5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BA0C-CFFA-ACF5-5BC0-CDDEAECC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6947-2A55-F7A7-D200-2F25F3273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AF04E-97E4-6942-0169-57F4F5D01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9FF4F-9424-B34B-9531-FB0DC2334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AA96F-67FD-B98E-C4A0-658189C02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94D65-F97F-F81F-FFBE-1EFFA8AB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4E4B6-330D-8311-7D2B-F5057D99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F54BF-4276-7E85-6FE8-B56996C3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7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DE03-F19B-164F-4976-C8FAEC62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32BE0-C90B-C2C1-FB28-F717E79E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E41E7-D837-E6CD-4E91-FB35643B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B2B25-A4FE-08E8-261E-0AB99E55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4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02755-87C9-13FD-AB93-4DCA4E8A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CF920-4721-22EE-AF3F-E1C4167C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191F2-0DD7-E7FB-F0F3-E966C766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EEB8-3180-7742-E20E-B7A04720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53C6-2CA5-EDA4-E59D-C08938BE8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59C9A-BE54-B35F-B407-3E729A8D8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37A9F-C8FF-B9A6-5F45-DF706947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759E5-BF58-BE9D-C8D4-BB4DC8859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77291-6B8E-F322-AADB-ADB89270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5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581C-9D21-4149-5C2D-5DCB110E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43FAE-697D-E672-A520-238D8B215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F6376-13C8-AC71-51CC-87D1B00AE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256E1-AD80-250B-C289-A3575A1A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2A4E3-B204-BA34-1C48-1314BFCD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C5060-C619-D7B2-7CE5-A29F11FB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140B-D0B6-1DCF-9EC1-3E487480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4790B-5F1A-E646-FAD0-D74BA775E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BB50-8D03-0EC4-BF5C-3131AFF9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28DA7-461C-9FA2-B4DF-8EF06821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B266D-2364-FAF6-3F4C-65B43304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6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A6D6C-D2BA-7379-D593-BB5EA2427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9D54C-AA4C-9D29-2435-8A7D433C5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10F52-8CC7-177D-ED4F-1A3F1674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39BB9-BE77-B202-C6AA-426E1F3A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74A5-6EA1-9BEA-6BD3-1DE012B6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4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3B8DD-C92F-7666-9021-AFB2BC4F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C0170-EE74-E642-0DD0-71766B339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BAEDD-D390-5913-5FB0-14BDED6D1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D9B84-A7C5-49E0-8761-56F10C0148BE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AD2A-7998-AFB9-38CA-1B12F8EBE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2B2E1-1FB4-8ECF-8D6D-147228D7E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D69A3-7AC0-46E6-A7D2-379FABFEB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6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FFFFFF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E8E8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1A61-A567-4F3D-7979-AEFA3EEB4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1035550"/>
            <a:ext cx="10779760" cy="20473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dirty="0"/>
              <a:t>Superstore Marketing Campaign Analysis</a:t>
            </a:r>
            <a:br>
              <a:rPr lang="en-US" sz="4400" dirty="0"/>
            </a:br>
            <a:r>
              <a:rPr lang="en-US" sz="2400" b="1" dirty="0">
                <a:solidFill>
                  <a:srgbClr val="F4C430"/>
                </a:solidFill>
              </a:rPr>
              <a:t>Predicting Gold Membership Acceptance  </a:t>
            </a:r>
            <a:endParaRPr lang="en-US" sz="2000" b="1" dirty="0">
              <a:solidFill>
                <a:srgbClr val="F4C43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821A3-D387-1E35-81E9-35938ECA01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Submitted by: Sonu Kumar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Career 247 — Data Analytics 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February 2026</a:t>
            </a:r>
          </a:p>
        </p:txBody>
      </p:sp>
      <p:pic>
        <p:nvPicPr>
          <p:cNvPr id="5" name="Picture 4" descr="A grocery store with shelves of food&#10;&#10;AI-generated content may be incorrect.">
            <a:extLst>
              <a:ext uri="{FF2B5EF4-FFF2-40B4-BE49-F238E27FC236}">
                <a16:creationId xmlns:a16="http://schemas.microsoft.com/office/drawing/2014/main" id="{C863500B-B76A-2EA0-8F6E-3A176AA925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39" y="3255962"/>
            <a:ext cx="3071061" cy="204737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74000"/>
              </a:srgbClr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5892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FA2F4-3F78-2B57-462F-CDF9A4B7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What Problem Are We Solving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1490E-4588-F484-7F2E-0AA038E7B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Superstore runs yearly Gold Membership campaign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20% discount on all purchases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14.91% customers say YES — Why so low 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0E91A6-36F5-0ED3-98C6-6FB4A4C1CFBD}"/>
              </a:ext>
            </a:extLst>
          </p:cNvPr>
          <p:cNvSpPr/>
          <p:nvPr/>
        </p:nvSpPr>
        <p:spPr>
          <a:xfrm>
            <a:off x="6096001" y="3344779"/>
            <a:ext cx="5257800" cy="2610853"/>
          </a:xfrm>
          <a:prstGeom prst="roundRect">
            <a:avLst/>
          </a:prstGeom>
          <a:noFill/>
          <a:ln w="3175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7FC89-0F84-4DCA-45AA-B1663D06916F}"/>
              </a:ext>
            </a:extLst>
          </p:cNvPr>
          <p:cNvSpPr txBox="1"/>
          <p:nvPr/>
        </p:nvSpPr>
        <p:spPr>
          <a:xfrm>
            <a:off x="6563226" y="3429000"/>
            <a:ext cx="4790574" cy="22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E8E8E8"/>
                </a:solidFill>
              </a:rPr>
              <a:t>Our Goal: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E8E8E8"/>
                </a:solidFill>
              </a:rPr>
              <a:t> → Find WHO will accept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E8E8E8"/>
                </a:solidFill>
              </a:rPr>
              <a:t>→ Find WHAT drives spending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E8E8E8"/>
                </a:solidFill>
              </a:rPr>
              <a:t> → Improve next campaign</a:t>
            </a:r>
          </a:p>
        </p:txBody>
      </p:sp>
    </p:spTree>
    <p:extLst>
      <p:ext uri="{BB962C8B-B14F-4D97-AF65-F5344CB8AC3E}">
        <p14:creationId xmlns:p14="http://schemas.microsoft.com/office/powerpoint/2010/main" val="278140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44AD-E340-33E1-8081-374C2B3C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53" y="380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Campaign Performance at a Glance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5A2874-AE41-ACEC-885A-104F7FD9FAEE}"/>
              </a:ext>
            </a:extLst>
          </p:cNvPr>
          <p:cNvSpPr/>
          <p:nvPr/>
        </p:nvSpPr>
        <p:spPr>
          <a:xfrm>
            <a:off x="2707104" y="1363578"/>
            <a:ext cx="1782853" cy="1628274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4C430"/>
                </a:solidFill>
              </a:rPr>
              <a:t>14.91%</a:t>
            </a:r>
          </a:p>
          <a:p>
            <a:pPr algn="ctr"/>
            <a:r>
              <a:rPr lang="en-US" sz="2000" dirty="0">
                <a:solidFill>
                  <a:srgbClr val="FFFFFF"/>
                </a:solidFill>
              </a:rPr>
              <a:t>Response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2A860E-FB24-FF79-7883-036C8AC67C24}"/>
              </a:ext>
            </a:extLst>
          </p:cNvPr>
          <p:cNvSpPr/>
          <p:nvPr/>
        </p:nvSpPr>
        <p:spPr>
          <a:xfrm>
            <a:off x="4507104" y="1363578"/>
            <a:ext cx="1782853" cy="1628274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4C430"/>
                </a:solidFill>
              </a:rPr>
              <a:t>$1.36M</a:t>
            </a:r>
          </a:p>
          <a:p>
            <a:pPr algn="ctr"/>
            <a:r>
              <a:rPr lang="en-US" sz="2000" dirty="0">
                <a:solidFill>
                  <a:srgbClr val="FFFFFF"/>
                </a:solidFill>
              </a:rPr>
              <a:t>Total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Revenue</a:t>
            </a: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905D54-502C-6B31-4746-D70445CE2074}"/>
              </a:ext>
            </a:extLst>
          </p:cNvPr>
          <p:cNvSpPr/>
          <p:nvPr/>
        </p:nvSpPr>
        <p:spPr>
          <a:xfrm>
            <a:off x="8107104" y="1363578"/>
            <a:ext cx="1782853" cy="1628274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4C430"/>
                </a:solidFill>
              </a:rPr>
              <a:t>2,240</a:t>
            </a:r>
            <a:endParaRPr lang="en-US" b="1" dirty="0">
              <a:solidFill>
                <a:srgbClr val="F4C430"/>
              </a:solidFill>
            </a:endParaRPr>
          </a:p>
          <a:p>
            <a:pPr algn="ctr"/>
            <a:r>
              <a:rPr lang="en-US" sz="2000" dirty="0"/>
              <a:t>Total</a:t>
            </a:r>
            <a:br>
              <a:rPr lang="en-US" sz="2000" dirty="0"/>
            </a:br>
            <a:r>
              <a:rPr lang="en-US" sz="2000" dirty="0"/>
              <a:t>Customers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CB2D1D-25BC-EF99-893A-BABE69E1E6CB}"/>
              </a:ext>
            </a:extLst>
          </p:cNvPr>
          <p:cNvSpPr/>
          <p:nvPr/>
        </p:nvSpPr>
        <p:spPr>
          <a:xfrm>
            <a:off x="6307104" y="1363578"/>
            <a:ext cx="1782853" cy="1628274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4C430"/>
                </a:solidFill>
              </a:rPr>
              <a:t>$605.80</a:t>
            </a:r>
          </a:p>
          <a:p>
            <a:pPr algn="ctr"/>
            <a:r>
              <a:rPr lang="en-US" sz="2000" dirty="0">
                <a:solidFill>
                  <a:srgbClr val="FFFFFF"/>
                </a:solidFill>
              </a:rPr>
              <a:t>Average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Spend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401921-1F6E-36E2-87E2-5F469A2D4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305" y="3156284"/>
            <a:ext cx="7013304" cy="30710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D1BB22-60EB-8ECE-A270-A7D9FF3384CD}"/>
              </a:ext>
            </a:extLst>
          </p:cNvPr>
          <p:cNvSpPr txBox="1"/>
          <p:nvPr/>
        </p:nvSpPr>
        <p:spPr>
          <a:xfrm>
            <a:off x="2707104" y="6227345"/>
            <a:ext cx="7371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Power BI Executive Dashboard — Interactive filters available</a:t>
            </a:r>
          </a:p>
        </p:txBody>
      </p:sp>
    </p:spTree>
    <p:extLst>
      <p:ext uri="{BB962C8B-B14F-4D97-AF65-F5344CB8AC3E}">
        <p14:creationId xmlns:p14="http://schemas.microsoft.com/office/powerpoint/2010/main" val="140944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5E9A-B04A-9454-39B3-B0CC72FD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2886"/>
          </a:xfrm>
        </p:spPr>
        <p:txBody>
          <a:bodyPr>
            <a:normAutofit/>
          </a:bodyPr>
          <a:lstStyle/>
          <a:p>
            <a:r>
              <a:rPr lang="en-US" sz="4400" dirty="0"/>
              <a:t>Customer Demographics — 2,240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828E8-D449-A652-4A77-C2BE4630E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15"/>
          <a:stretch/>
        </p:blipFill>
        <p:spPr>
          <a:xfrm>
            <a:off x="838199" y="2357636"/>
            <a:ext cx="3704719" cy="1963388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B83423-BDBF-EF1C-BCEE-DF7AB28DC45A}"/>
              </a:ext>
            </a:extLst>
          </p:cNvPr>
          <p:cNvSpPr txBox="1"/>
          <p:nvPr/>
        </p:nvSpPr>
        <p:spPr>
          <a:xfrm>
            <a:off x="838200" y="1744581"/>
            <a:ext cx="3400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Distribution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14C9BE-8229-A151-51B1-8993BD52C7D7}"/>
              </a:ext>
            </a:extLst>
          </p:cNvPr>
          <p:cNvSpPr txBox="1"/>
          <p:nvPr/>
        </p:nvSpPr>
        <p:spPr>
          <a:xfrm>
            <a:off x="724898" y="4432247"/>
            <a:ext cx="3818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8E8E8"/>
                </a:solidFill>
              </a:rPr>
              <a:t>50% Graduates | 22% PhD holders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416C1E-B89C-6F94-7EB6-7C8D0FB0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465" y="2357636"/>
            <a:ext cx="3963453" cy="19633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DE6437-02F7-6D8B-5FAF-7EFB1ACCD280}"/>
              </a:ext>
            </a:extLst>
          </p:cNvPr>
          <p:cNvSpPr txBox="1"/>
          <p:nvPr/>
        </p:nvSpPr>
        <p:spPr>
          <a:xfrm>
            <a:off x="7567863" y="1758844"/>
            <a:ext cx="366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Marital Status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49F76-465A-729A-AA93-AA099066F91F}"/>
              </a:ext>
            </a:extLst>
          </p:cNvPr>
          <p:cNvSpPr txBox="1"/>
          <p:nvPr/>
        </p:nvSpPr>
        <p:spPr>
          <a:xfrm>
            <a:off x="7743318" y="4458151"/>
            <a:ext cx="3667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8E8E8"/>
                </a:solidFill>
              </a:rPr>
              <a:t>64% Married | 22% Single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2CAB3-33FE-3028-2AD7-E569170D0B0A}"/>
              </a:ext>
            </a:extLst>
          </p:cNvPr>
          <p:cNvSpPr txBox="1"/>
          <p:nvPr/>
        </p:nvSpPr>
        <p:spPr>
          <a:xfrm>
            <a:off x="3104148" y="5167152"/>
            <a:ext cx="6472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Majority Age Group: 40-70 years</a:t>
            </a:r>
          </a:p>
        </p:txBody>
      </p:sp>
    </p:spTree>
    <p:extLst>
      <p:ext uri="{BB962C8B-B14F-4D97-AF65-F5344CB8AC3E}">
        <p14:creationId xmlns:p14="http://schemas.microsoft.com/office/powerpoint/2010/main" val="234468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B9EF-79A9-B379-3CAC-BD98EFE1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Pattern — Wine &amp; Meat Dominate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EF008-31F7-BF0B-ACEE-4DD09C63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16642" cy="238801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5C5A28-D0C1-9677-86C9-1B85F431C80E}"/>
              </a:ext>
            </a:extLst>
          </p:cNvPr>
          <p:cNvSpPr/>
          <p:nvPr/>
        </p:nvSpPr>
        <p:spPr>
          <a:xfrm>
            <a:off x="3392904" y="4602540"/>
            <a:ext cx="6472991" cy="1569660"/>
          </a:xfrm>
          <a:prstGeom prst="roundRect">
            <a:avLst>
              <a:gd name="adj" fmla="val 37363"/>
            </a:avLst>
          </a:prstGeom>
          <a:solidFill>
            <a:srgbClr val="F4C430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243B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 Target Wine &amp; Meat lovers first!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F3068-D5A3-05F9-E99F-5098EAC0F2A6}"/>
              </a:ext>
            </a:extLst>
          </p:cNvPr>
          <p:cNvSpPr txBox="1"/>
          <p:nvPr/>
        </p:nvSpPr>
        <p:spPr>
          <a:xfrm>
            <a:off x="7375358" y="1995445"/>
            <a:ext cx="4816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Wine              $680,000 (50%)</a:t>
            </a:r>
          </a:p>
          <a:p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Meat             $370,000 (27%) </a:t>
            </a:r>
          </a:p>
          <a:p>
            <a:endParaRPr lang="en-US" sz="2400" b="1" dirty="0">
              <a:solidFill>
                <a:srgbClr val="E8E8E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Combined     77% of ALL revenue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CC5174-5393-934C-38E3-90420394D812}"/>
              </a:ext>
            </a:extLst>
          </p:cNvPr>
          <p:cNvCxnSpPr/>
          <p:nvPr/>
        </p:nvCxnSpPr>
        <p:spPr>
          <a:xfrm>
            <a:off x="7375358" y="3024374"/>
            <a:ext cx="397844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3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E9FC-742A-462F-9AB6-CF9612B7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Three Types of Customers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C89078-FD9A-6A8D-1705-F181FFB9B23F}"/>
              </a:ext>
            </a:extLst>
          </p:cNvPr>
          <p:cNvSpPr/>
          <p:nvPr/>
        </p:nvSpPr>
        <p:spPr>
          <a:xfrm>
            <a:off x="948434" y="2079000"/>
            <a:ext cx="2700000" cy="2700000"/>
          </a:xfrm>
          <a:prstGeom prst="roundRect">
            <a:avLst/>
          </a:prstGeom>
          <a:solidFill>
            <a:srgbClr val="C0392B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r>
              <a:rPr lang="en-US" sz="2000" dirty="0"/>
              <a:t>LOW SPENDER</a:t>
            </a:r>
            <a:endParaRPr lang="en-US" sz="2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 $500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1,245 customers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55.6%</a:t>
            </a:r>
          </a:p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0BFC8F-EA50-236E-8C4D-E12DB6A6F9D4}"/>
              </a:ext>
            </a:extLst>
          </p:cNvPr>
          <p:cNvSpPr/>
          <p:nvPr/>
        </p:nvSpPr>
        <p:spPr>
          <a:xfrm>
            <a:off x="4877574" y="2079000"/>
            <a:ext cx="2700000" cy="2700000"/>
          </a:xfrm>
          <a:prstGeom prst="roundRect">
            <a:avLst/>
          </a:prstGeom>
          <a:solidFill>
            <a:srgbClr val="F39C12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MEDIUM SPENDER</a:t>
            </a:r>
          </a:p>
          <a:p>
            <a:pPr algn="ctr"/>
            <a:r>
              <a:rPr lang="en-US" dirty="0"/>
              <a:t>$500 — $1,500</a:t>
            </a:r>
          </a:p>
          <a:p>
            <a:pPr algn="ctr"/>
            <a:r>
              <a:rPr lang="en-US" dirty="0"/>
              <a:t>749 customers</a:t>
            </a:r>
          </a:p>
          <a:p>
            <a:pPr algn="ctr"/>
            <a:r>
              <a:rPr lang="en-US" dirty="0"/>
              <a:t>33.4%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64E0EE-2008-2D45-B67E-6C39777788C9}"/>
              </a:ext>
            </a:extLst>
          </p:cNvPr>
          <p:cNvSpPr/>
          <p:nvPr/>
        </p:nvSpPr>
        <p:spPr>
          <a:xfrm>
            <a:off x="8750966" y="2079000"/>
            <a:ext cx="2700000" cy="2700000"/>
          </a:xfrm>
          <a:prstGeom prst="roundRect">
            <a:avLst/>
          </a:prstGeom>
          <a:solidFill>
            <a:srgbClr val="27AE6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r>
              <a:rPr lang="en-US" sz="2000" dirty="0"/>
              <a:t>HIGH SPENDER</a:t>
            </a:r>
          </a:p>
          <a:p>
            <a:pPr algn="ctr"/>
            <a:r>
              <a:rPr lang="en-US" dirty="0"/>
              <a:t>Above $1,500</a:t>
            </a:r>
          </a:p>
          <a:p>
            <a:pPr algn="ctr"/>
            <a:r>
              <a:rPr lang="en-US" dirty="0"/>
              <a:t>246 customers</a:t>
            </a:r>
          </a:p>
          <a:p>
            <a:pPr algn="ctr"/>
            <a:r>
              <a:rPr lang="en-US" dirty="0"/>
              <a:t>11%</a:t>
            </a:r>
          </a:p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3505E42-A211-DE7B-7B2A-E47786B51424}"/>
              </a:ext>
            </a:extLst>
          </p:cNvPr>
          <p:cNvSpPr/>
          <p:nvPr/>
        </p:nvSpPr>
        <p:spPr>
          <a:xfrm>
            <a:off x="3825986" y="3149810"/>
            <a:ext cx="902368" cy="613611"/>
          </a:xfrm>
          <a:prstGeom prst="rightArrow">
            <a:avLst/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DE4E68-33D2-FF35-C6F7-091127525D30}"/>
              </a:ext>
            </a:extLst>
          </p:cNvPr>
          <p:cNvSpPr/>
          <p:nvPr/>
        </p:nvSpPr>
        <p:spPr>
          <a:xfrm>
            <a:off x="7732751" y="3149811"/>
            <a:ext cx="902368" cy="613611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CC975-4362-078B-67C4-8AFBC9B46A68}"/>
              </a:ext>
            </a:extLst>
          </p:cNvPr>
          <p:cNvSpPr txBox="1"/>
          <p:nvPr/>
        </p:nvSpPr>
        <p:spPr>
          <a:xfrm>
            <a:off x="8559146" y="4806615"/>
            <a:ext cx="30836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⭐ </a:t>
            </a:r>
            <a:r>
              <a:rPr lang="en-US" sz="2800" b="1" dirty="0">
                <a:solidFill>
                  <a:srgbClr val="F39C12"/>
                </a:solidFill>
              </a:rPr>
              <a:t>Priority Target </a:t>
            </a:r>
            <a:r>
              <a:rPr lang="en-US" sz="2400" b="1" dirty="0">
                <a:solidFill>
                  <a:srgbClr val="F39C12"/>
                </a:solidFill>
              </a:rPr>
              <a:t>These 246 drive maximum ROI</a:t>
            </a:r>
          </a:p>
        </p:txBody>
      </p:sp>
    </p:spTree>
    <p:extLst>
      <p:ext uri="{BB962C8B-B14F-4D97-AF65-F5344CB8AC3E}">
        <p14:creationId xmlns:p14="http://schemas.microsoft.com/office/powerpoint/2010/main" val="219694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61A8-5427-3503-B465-14683BDE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8E8E8"/>
                </a:solidFill>
              </a:rPr>
              <a:t>Biggest Insight: Children Change Everything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D902EB-EA3A-DAE9-B78B-EB215C8F99D3}"/>
              </a:ext>
            </a:extLst>
          </p:cNvPr>
          <p:cNvSpPr/>
          <p:nvPr/>
        </p:nvSpPr>
        <p:spPr>
          <a:xfrm>
            <a:off x="710401" y="2025018"/>
            <a:ext cx="3060000" cy="2340000"/>
          </a:xfrm>
          <a:prstGeom prst="roundRect">
            <a:avLst/>
          </a:prstGeom>
          <a:noFill/>
          <a:ln w="3175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C4A4D-CB00-21E5-01F3-DC9221B73A0F}"/>
              </a:ext>
            </a:extLst>
          </p:cNvPr>
          <p:cNvSpPr txBox="1"/>
          <p:nvPr/>
        </p:nvSpPr>
        <p:spPr>
          <a:xfrm>
            <a:off x="838201" y="2558558"/>
            <a:ext cx="2804400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8E8E8"/>
                </a:solidFill>
              </a:rPr>
              <a:t>WITH CHILDREN</a:t>
            </a:r>
          </a:p>
          <a:p>
            <a:pPr algn="ctr"/>
            <a:r>
              <a:rPr lang="en-US" sz="2400" dirty="0">
                <a:solidFill>
                  <a:srgbClr val="E8E8E8"/>
                </a:solidFill>
              </a:rPr>
              <a:t>Avg Spend: $406</a:t>
            </a:r>
          </a:p>
          <a:p>
            <a:pPr algn="ctr"/>
            <a:r>
              <a:rPr lang="en-US" sz="2400" dirty="0">
                <a:solidFill>
                  <a:srgbClr val="E8E8E8"/>
                </a:solidFill>
              </a:rPr>
              <a:t>Acceptance: 10.3%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629769-6851-2F28-F1A3-473F6918976B}"/>
              </a:ext>
            </a:extLst>
          </p:cNvPr>
          <p:cNvSpPr/>
          <p:nvPr/>
        </p:nvSpPr>
        <p:spPr>
          <a:xfrm>
            <a:off x="8549395" y="1985641"/>
            <a:ext cx="3096126" cy="2346159"/>
          </a:xfrm>
          <a:prstGeom prst="roundRect">
            <a:avLst/>
          </a:prstGeom>
          <a:noFill/>
          <a:ln w="3175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CD343-F1BB-DE35-E484-E647093D7318}"/>
              </a:ext>
            </a:extLst>
          </p:cNvPr>
          <p:cNvSpPr txBox="1"/>
          <p:nvPr/>
        </p:nvSpPr>
        <p:spPr>
          <a:xfrm>
            <a:off x="8726904" y="2558558"/>
            <a:ext cx="2803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CHILDREN</a:t>
            </a:r>
          </a:p>
          <a:p>
            <a:pPr algn="ctr"/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Spend: $1,106</a:t>
            </a:r>
          </a:p>
          <a:p>
            <a:pPr algn="ctr"/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Acceptance: 26.5%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DC4DFE62-E30E-A3D4-1543-1E9FE3F6A194}"/>
              </a:ext>
            </a:extLst>
          </p:cNvPr>
          <p:cNvSpPr/>
          <p:nvPr/>
        </p:nvSpPr>
        <p:spPr>
          <a:xfrm>
            <a:off x="4399545" y="2404263"/>
            <a:ext cx="3392906" cy="1508917"/>
          </a:xfrm>
          <a:prstGeom prst="leftRightArrow">
            <a:avLst/>
          </a:prstGeom>
          <a:solidFill>
            <a:srgbClr val="F4C4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2.7x Difference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p-value &lt; 0.001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0EB5B-1C13-99E1-30E7-03AD312C3083}"/>
              </a:ext>
            </a:extLst>
          </p:cNvPr>
          <p:cNvSpPr txBox="1"/>
          <p:nvPr/>
        </p:nvSpPr>
        <p:spPr>
          <a:xfrm>
            <a:off x="2341143" y="5255475"/>
            <a:ext cx="7509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membership does NOT appeal to families</a:t>
            </a:r>
          </a:p>
        </p:txBody>
      </p:sp>
    </p:spTree>
    <p:extLst>
      <p:ext uri="{BB962C8B-B14F-4D97-AF65-F5344CB8AC3E}">
        <p14:creationId xmlns:p14="http://schemas.microsoft.com/office/powerpoint/2010/main" val="13128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7" grpId="0" animBg="1"/>
      <p:bldP spid="9" grpId="0" build="p"/>
      <p:bldP spid="10" grpId="0" build="p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D165-A61B-3EE4-DE82-4FD42670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21" y="40642"/>
            <a:ext cx="10880558" cy="1325563"/>
          </a:xfrm>
        </p:spPr>
        <p:txBody>
          <a:bodyPr/>
          <a:lstStyle/>
          <a:p>
            <a:r>
              <a:rPr lang="en-US" b="1" dirty="0"/>
              <a:t>Machine Learning Model — Predicting Acceptance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B2AF6-16C4-CA0F-7122-72580420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1" y="3861640"/>
            <a:ext cx="3677920" cy="2366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57F0EC-2017-9BD9-2862-4AE2F4AEDCB8}"/>
              </a:ext>
            </a:extLst>
          </p:cNvPr>
          <p:cNvSpPr txBox="1"/>
          <p:nvPr/>
        </p:nvSpPr>
        <p:spPr>
          <a:xfrm>
            <a:off x="8032374" y="1455766"/>
            <a:ext cx="3321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85.86%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DBE13-77AB-4D75-F62B-3164A52A10CC}"/>
              </a:ext>
            </a:extLst>
          </p:cNvPr>
          <p:cNvSpPr txBox="1"/>
          <p:nvPr/>
        </p:nvSpPr>
        <p:spPr>
          <a:xfrm>
            <a:off x="8582691" y="2504602"/>
            <a:ext cx="23419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Accuracy</a:t>
            </a:r>
            <a:b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18B4DC-8D6E-0C82-DFD4-B4B1247E1B53}"/>
              </a:ext>
            </a:extLst>
          </p:cNvPr>
          <p:cNvCxnSpPr>
            <a:cxnSpLocks/>
          </p:cNvCxnSpPr>
          <p:nvPr/>
        </p:nvCxnSpPr>
        <p:spPr>
          <a:xfrm>
            <a:off x="8582690" y="3735939"/>
            <a:ext cx="2590280" cy="0"/>
          </a:xfrm>
          <a:prstGeom prst="straightConnector1">
            <a:avLst/>
          </a:prstGeom>
          <a:ln w="38100">
            <a:solidFill>
              <a:srgbClr val="F4C43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C06C080-1544-7C47-161E-36345422B351}"/>
              </a:ext>
            </a:extLst>
          </p:cNvPr>
          <p:cNvSpPr txBox="1"/>
          <p:nvPr/>
        </p:nvSpPr>
        <p:spPr>
          <a:xfrm>
            <a:off x="8628050" y="4149513"/>
            <a:ext cx="2499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Predictors:</a:t>
            </a:r>
          </a:p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Spend</a:t>
            </a:r>
          </a:p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Income</a:t>
            </a:r>
            <a:b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99464-DF10-7E0B-3F48-F864C0D21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1" y="1455766"/>
            <a:ext cx="7314798" cy="2111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DA672A-5E28-BFF2-823E-8973ED8F04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5" t="64736" r="9503" b="360"/>
          <a:stretch/>
        </p:blipFill>
        <p:spPr>
          <a:xfrm>
            <a:off x="4551279" y="3861640"/>
            <a:ext cx="3454400" cy="237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4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uild="p"/>
      <p:bldP spid="1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6FB4-AE97-5911-CC02-AF208B78F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6920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Model Improvement: Solving Class Imbalance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D2485-EACA-CB30-91F7-6DEF64F04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02" y="1690687"/>
            <a:ext cx="3672000" cy="21332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AEDC2D-BAD5-0414-6D36-7BD976BDA40A}"/>
              </a:ext>
            </a:extLst>
          </p:cNvPr>
          <p:cNvSpPr txBox="1"/>
          <p:nvPr/>
        </p:nvSpPr>
        <p:spPr>
          <a:xfrm>
            <a:off x="497840" y="3891558"/>
            <a:ext cx="4500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Random Forest (Accuracy): </a:t>
            </a:r>
            <a:r>
              <a:rPr lang="en-US" sz="2800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85.86%</a:t>
            </a:r>
            <a:endParaRPr lang="en-US" dirty="0">
              <a:solidFill>
                <a:srgbClr val="F4C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F61ED8-7AE0-0EC2-CED3-5F0FC8769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1" y="1677409"/>
            <a:ext cx="3672840" cy="2051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CDA63E-83C3-34DE-39B7-2DC87CFC1082}"/>
              </a:ext>
            </a:extLst>
          </p:cNvPr>
          <p:cNvSpPr txBox="1"/>
          <p:nvPr/>
        </p:nvSpPr>
        <p:spPr>
          <a:xfrm>
            <a:off x="7680961" y="3891558"/>
            <a:ext cx="41757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with SMOTE (Recall): </a:t>
            </a:r>
            <a:r>
              <a:rPr lang="en-US" sz="3200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44%</a:t>
            </a:r>
            <a:endParaRPr lang="en-US" dirty="0">
              <a:solidFill>
                <a:srgbClr val="F4C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1C47878-7298-6E1E-9943-401C575884FE}"/>
              </a:ext>
            </a:extLst>
          </p:cNvPr>
          <p:cNvSpPr/>
          <p:nvPr/>
        </p:nvSpPr>
        <p:spPr>
          <a:xfrm>
            <a:off x="5364480" y="2430443"/>
            <a:ext cx="1219200" cy="721360"/>
          </a:xfrm>
          <a:prstGeom prst="rightArrow">
            <a:avLst/>
          </a:prstGeom>
          <a:solidFill>
            <a:srgbClr val="F4C4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4C43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1BECB95-C1F9-16E2-8970-C9781BFA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16" y="4937413"/>
            <a:ext cx="109350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(Synthetic Minority Over-sampling Technique) </a:t>
            </a:r>
            <a:r>
              <a:rPr lang="en-US" alt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generate synthetic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samples for the minority class (Buyers).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Shift: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Prioritized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over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ensure fewer potential leads are missed during the campaign.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4C4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44%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buyers (vs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4C43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26%)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for a more effective and high-ROI marketing outreach.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B3B2B6-57D5-2D08-BF84-AE475DCB12F4}"/>
              </a:ext>
            </a:extLst>
          </p:cNvPr>
          <p:cNvSpPr/>
          <p:nvPr/>
        </p:nvSpPr>
        <p:spPr>
          <a:xfrm>
            <a:off x="516718" y="4740018"/>
            <a:ext cx="11177442" cy="1595120"/>
          </a:xfrm>
          <a:prstGeom prst="roundRect">
            <a:avLst/>
          </a:prstGeom>
          <a:noFill/>
          <a:ln w="381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1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 animBg="1"/>
      <p:bldP spid="18" grpId="0" build="p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1082-1FDB-DAB8-9476-E4962EE3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737" y="14626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6 Actions to Boost Membership Uptake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5DF043-E7E3-A5AB-B262-C59146544B22}"/>
              </a:ext>
            </a:extLst>
          </p:cNvPr>
          <p:cNvSpPr/>
          <p:nvPr/>
        </p:nvSpPr>
        <p:spPr>
          <a:xfrm>
            <a:off x="2248397" y="3102591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C17D62-9B20-F823-7FC2-16B8FEA3F8FA}"/>
              </a:ext>
            </a:extLst>
          </p:cNvPr>
          <p:cNvSpPr/>
          <p:nvPr/>
        </p:nvSpPr>
        <p:spPr>
          <a:xfrm>
            <a:off x="2248397" y="1339476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E6A6AC-5F38-95B7-560A-71B0C9DCF834}"/>
              </a:ext>
            </a:extLst>
          </p:cNvPr>
          <p:cNvSpPr/>
          <p:nvPr/>
        </p:nvSpPr>
        <p:spPr>
          <a:xfrm>
            <a:off x="7938836" y="4951914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87A09F-428F-9B7A-C653-7084CC01F3BF}"/>
              </a:ext>
            </a:extLst>
          </p:cNvPr>
          <p:cNvSpPr/>
          <p:nvPr/>
        </p:nvSpPr>
        <p:spPr>
          <a:xfrm>
            <a:off x="2218320" y="4889257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83A7C7-68AB-5341-F9E0-AD4441F947A4}"/>
              </a:ext>
            </a:extLst>
          </p:cNvPr>
          <p:cNvSpPr/>
          <p:nvPr/>
        </p:nvSpPr>
        <p:spPr>
          <a:xfrm>
            <a:off x="7938836" y="3161757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8983EA-9C7B-A721-DCE6-50BCC835DE88}"/>
              </a:ext>
            </a:extLst>
          </p:cNvPr>
          <p:cNvSpPr/>
          <p:nvPr/>
        </p:nvSpPr>
        <p:spPr>
          <a:xfrm>
            <a:off x="7938836" y="1371600"/>
            <a:ext cx="2520615" cy="1589088"/>
          </a:xfrm>
          <a:prstGeom prst="roundRect">
            <a:avLst/>
          </a:prstGeom>
          <a:solidFill>
            <a:srgbClr val="243B6E"/>
          </a:solidFill>
          <a:ln w="25400">
            <a:solidFill>
              <a:srgbClr val="F4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12241-6C4B-AC36-F50A-D146C0E40DB5}"/>
              </a:ext>
            </a:extLst>
          </p:cNvPr>
          <p:cNvSpPr txBox="1"/>
          <p:nvPr/>
        </p:nvSpPr>
        <p:spPr>
          <a:xfrm>
            <a:off x="2344653" y="1672892"/>
            <a:ext cx="24153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Email PhD &amp; Masters</a:t>
            </a:r>
          </a:p>
          <a:p>
            <a:pPr algn="ctr"/>
            <a:r>
              <a:rPr lang="en-US" sz="1600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856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</a:t>
            </a:r>
            <a:b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20.78% 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acceptance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614C25-F3C6-B227-6B76-8787180AE5B9}"/>
              </a:ext>
            </a:extLst>
          </p:cNvPr>
          <p:cNvSpPr txBox="1"/>
          <p:nvPr/>
        </p:nvSpPr>
        <p:spPr>
          <a:xfrm>
            <a:off x="2218321" y="3369947"/>
            <a:ext cx="2668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Family Gold Bundle</a:t>
            </a:r>
          </a:p>
          <a:p>
            <a:pPr algn="ctr"/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category discounts</a:t>
            </a:r>
            <a:b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10.3% 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1F39E-431A-F467-BC50-B154EA1CD7F1}"/>
              </a:ext>
            </a:extLst>
          </p:cNvPr>
          <p:cNvSpPr txBox="1"/>
          <p:nvPr/>
        </p:nvSpPr>
        <p:spPr>
          <a:xfrm>
            <a:off x="2218321" y="5254260"/>
            <a:ext cx="2668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Wine &amp; Meat Bundle</a:t>
            </a:r>
          </a:p>
          <a:p>
            <a:pPr algn="ctr"/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"Gourmet Food Club"</a:t>
            </a:r>
            <a:b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77% 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focus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A2DE8C-9AA4-488E-D97E-DC428D160CE6}"/>
              </a:ext>
            </a:extLst>
          </p:cNvPr>
          <p:cNvSpPr txBox="1"/>
          <p:nvPr/>
        </p:nvSpPr>
        <p:spPr>
          <a:xfrm>
            <a:off x="8027568" y="1638085"/>
            <a:ext cx="2343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Win-back inactive</a:t>
            </a:r>
          </a:p>
          <a:p>
            <a:pPr algn="ctr"/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Recency &gt; </a:t>
            </a:r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days</a:t>
            </a:r>
            <a:b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 catalog offer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F16B8-1CC5-BED3-27C8-6E1CF0A7C422}"/>
              </a:ext>
            </a:extLst>
          </p:cNvPr>
          <p:cNvSpPr txBox="1"/>
          <p:nvPr/>
        </p:nvSpPr>
        <p:spPr>
          <a:xfrm>
            <a:off x="7938835" y="3429000"/>
            <a:ext cx="25206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Digital Conversion</a:t>
            </a:r>
          </a:p>
          <a:p>
            <a:pPr algn="ctr"/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 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online order</a:t>
            </a:r>
            <a:b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1,563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in-store shoppers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CBAE3D-BC42-F246-6A0B-3B3362A88D25}"/>
              </a:ext>
            </a:extLst>
          </p:cNvPr>
          <p:cNvSpPr txBox="1"/>
          <p:nvPr/>
        </p:nvSpPr>
        <p:spPr>
          <a:xfrm>
            <a:off x="7796962" y="5219157"/>
            <a:ext cx="2804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VIP for High Spenders</a:t>
            </a:r>
          </a:p>
          <a:p>
            <a:pPr algn="ctr"/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 outreach</a:t>
            </a:r>
            <a:b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F4C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246</a:t>
            </a:r>
            <a:r>
              <a:rPr lang="en-US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— top ROI</a:t>
            </a:r>
          </a:p>
        </p:txBody>
      </p:sp>
    </p:spTree>
    <p:extLst>
      <p:ext uri="{BB962C8B-B14F-4D97-AF65-F5344CB8AC3E}">
        <p14:creationId xmlns:p14="http://schemas.microsoft.com/office/powerpoint/2010/main" val="41934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/>
      <p:bldP spid="14" grpId="0"/>
      <p:bldP spid="16" grpId="0"/>
      <p:bldP spid="18" grpId="0"/>
      <p:bldP spid="2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5F25-B910-722C-6E86-71824FFB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857" y="906546"/>
            <a:ext cx="4459705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F4C430"/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A3B20-A985-B1AB-17CE-B7E905241A9B}"/>
              </a:ext>
            </a:extLst>
          </p:cNvPr>
          <p:cNvSpPr txBox="1"/>
          <p:nvPr/>
        </p:nvSpPr>
        <p:spPr>
          <a:xfrm>
            <a:off x="1605280" y="2367443"/>
            <a:ext cx="9896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optimized for </a:t>
            </a:r>
            <a:r>
              <a:rPr lang="en-US" sz="2400" b="1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(44%)</a:t>
            </a:r>
            <a:r>
              <a:rPr lang="en-US" sz="24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maximize customer reach </a:t>
            </a:r>
          </a:p>
          <a:p>
            <a:pPr algn="ctr"/>
            <a:r>
              <a:rPr lang="en-US" sz="24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PhD customers = Best target segment </a:t>
            </a:r>
          </a:p>
          <a:p>
            <a:pPr algn="ctr"/>
            <a:r>
              <a:rPr lang="en-US" sz="24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Spenders = Most Likely to Accept</a:t>
            </a:r>
          </a:p>
          <a:p>
            <a:pPr algn="ctr"/>
            <a:r>
              <a:rPr lang="en-US" sz="24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 Data-driven recommendations delivered</a:t>
            </a:r>
            <a:endParaRPr lang="en-US" dirty="0">
              <a:solidFill>
                <a:srgbClr val="E8E8E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172F8-CCD9-E783-FBE0-2CA078A4B37F}"/>
              </a:ext>
            </a:extLst>
          </p:cNvPr>
          <p:cNvSpPr txBox="1"/>
          <p:nvPr/>
        </p:nvSpPr>
        <p:spPr>
          <a:xfrm>
            <a:off x="472239" y="5422049"/>
            <a:ext cx="4593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| MySQL | Python | Power 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72383-2902-FF83-585E-8E3F49C07656}"/>
              </a:ext>
            </a:extLst>
          </p:cNvPr>
          <p:cNvSpPr txBox="1"/>
          <p:nvPr/>
        </p:nvSpPr>
        <p:spPr>
          <a:xfrm>
            <a:off x="7847598" y="5314327"/>
            <a:ext cx="36545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Sonu Kumar </a:t>
            </a:r>
          </a:p>
          <a:p>
            <a:pPr algn="ctr"/>
            <a:r>
              <a:rPr lang="en-US" sz="20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Career 247 — Capstone Project</a:t>
            </a:r>
          </a:p>
          <a:p>
            <a:pPr algn="ctr"/>
            <a:r>
              <a:rPr lang="en-US" sz="2000" dirty="0">
                <a:solidFill>
                  <a:srgbClr val="E8E8E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February 2026</a:t>
            </a:r>
          </a:p>
        </p:txBody>
      </p:sp>
    </p:spTree>
    <p:extLst>
      <p:ext uri="{BB962C8B-B14F-4D97-AF65-F5344CB8AC3E}">
        <p14:creationId xmlns:p14="http://schemas.microsoft.com/office/powerpoint/2010/main" val="366198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497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Superstore Marketing Campaign Analysis Predicting Gold Membership Acceptance  </vt:lpstr>
      <vt:lpstr>What Problem Are We Solving ?</vt:lpstr>
      <vt:lpstr>Campaign Performance at a Glance</vt:lpstr>
      <vt:lpstr>Customer Demographics — 2,240 Customers</vt:lpstr>
      <vt:lpstr>Spending Pattern — Wine &amp; Meat Dominate </vt:lpstr>
      <vt:lpstr>Three Types of Customers </vt:lpstr>
      <vt:lpstr>Biggest Insight: Children Change Everything </vt:lpstr>
      <vt:lpstr>Machine Learning Model — Predicting Acceptance </vt:lpstr>
      <vt:lpstr>Model Improvement: Solving Class Imbalance</vt:lpstr>
      <vt:lpstr>6 Actions to Boost Membership Uptake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SONU KSHATRIYA</dc:creator>
  <cp:lastModifiedBy>SONU KSHATRIYA</cp:lastModifiedBy>
  <cp:revision>7</cp:revision>
  <dcterms:created xsi:type="dcterms:W3CDTF">2026-02-23T08:18:31Z</dcterms:created>
  <dcterms:modified xsi:type="dcterms:W3CDTF">2026-02-24T12:41:10Z</dcterms:modified>
</cp:coreProperties>
</file>